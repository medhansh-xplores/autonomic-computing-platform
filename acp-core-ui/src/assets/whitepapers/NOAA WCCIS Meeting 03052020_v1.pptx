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0.jpg" ContentType="image/jp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3" r:id="rId1"/>
  </p:sldMasterIdLst>
  <p:notesMasterIdLst>
    <p:notesMasterId r:id="rId8"/>
  </p:notesMasterIdLst>
  <p:sldIdLst>
    <p:sldId id="312" r:id="rId2"/>
    <p:sldId id="536" r:id="rId3"/>
    <p:sldId id="538" r:id="rId4"/>
    <p:sldId id="533" r:id="rId5"/>
    <p:sldId id="346" r:id="rId6"/>
    <p:sldId id="539" r:id="rId7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1"/>
    <a:srgbClr val="F08422"/>
    <a:srgbClr val="000000"/>
    <a:srgbClr val="0E4BA3"/>
    <a:srgbClr val="0A3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36" y="102"/>
      </p:cViewPr>
      <p:guideLst>
        <p:guide orient="horz" pos="40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593D0-427B-4193-A79D-0DF06DF3943C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ED4F6-7C70-40FC-987F-549DDB654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5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81868-58E5-450E-B508-4FD6A89154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07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9A8174-0301-4D5D-8578-3C04C54D5C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700" y="1782017"/>
            <a:ext cx="7417273" cy="1727946"/>
          </a:xfrm>
        </p:spPr>
        <p:txBody>
          <a:bodyPr anchor="b">
            <a:noAutofit/>
          </a:bodyPr>
          <a:lstStyle>
            <a:lvl1pPr>
              <a:defRPr lang="en-US" sz="3938" b="0" cap="all" spc="169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700" y="3602038"/>
            <a:ext cx="7417273" cy="697769"/>
          </a:xfrm>
        </p:spPr>
        <p:txBody>
          <a:bodyPr>
            <a:noAutofit/>
          </a:bodyPr>
          <a:lstStyle>
            <a:lvl1pPr marL="0" indent="0">
              <a:buNone/>
              <a:defRPr lang="en-US" sz="1400" b="0" i="1" cap="none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Georgia" charset="0"/>
                <a:cs typeface="Times New Roman" panose="02020603050405020304" pitchFamily="18" charset="0"/>
              </a:defRPr>
            </a:lvl1pPr>
          </a:lstStyle>
          <a:p>
            <a:pPr marL="228600" lvl="0" indent="-228600"/>
            <a:r>
              <a:rPr lang="en-US" dirty="0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320C3-50C2-4F0F-85E8-13B79CCCF11F}"/>
              </a:ext>
            </a:extLst>
          </p:cNvPr>
          <p:cNvSpPr/>
          <p:nvPr userDrawn="1"/>
        </p:nvSpPr>
        <p:spPr>
          <a:xfrm>
            <a:off x="9249341" y="6317715"/>
            <a:ext cx="1123064" cy="230832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chemeClr val="bg1"/>
                </a:solidFill>
                <a:cs typeface="Insignia LT"/>
              </a:rPr>
              <a:t>aceinfosolutions.com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9C829-F43B-4747-B3FF-95D3587ECBD1}"/>
              </a:ext>
            </a:extLst>
          </p:cNvPr>
          <p:cNvSpPr/>
          <p:nvPr userDrawn="1"/>
        </p:nvSpPr>
        <p:spPr>
          <a:xfrm>
            <a:off x="9249342" y="6480136"/>
            <a:ext cx="2381421" cy="200055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Copyright © 2019 | Ace Info Solutions, LLC. All rights reserved.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BC6D75-3020-4525-B875-D664F0D9B9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700" y="614926"/>
            <a:ext cx="1725280" cy="68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9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B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F8830-4770-4804-B6A2-E8B49CE900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59F15C-D511-4336-811A-2787FC2C9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700" y="1782017"/>
            <a:ext cx="7417273" cy="1727946"/>
          </a:xfrm>
        </p:spPr>
        <p:txBody>
          <a:bodyPr anchor="b">
            <a:noAutofit/>
          </a:bodyPr>
          <a:lstStyle>
            <a:lvl1pPr>
              <a:defRPr lang="en-US" sz="3938" b="0" cap="all" spc="169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700" y="3602038"/>
            <a:ext cx="7417273" cy="697769"/>
          </a:xfrm>
        </p:spPr>
        <p:txBody>
          <a:bodyPr>
            <a:noAutofit/>
          </a:bodyPr>
          <a:lstStyle>
            <a:lvl1pPr marL="0" indent="0">
              <a:buNone/>
              <a:defRPr lang="en-US" sz="1400" b="0" i="1" cap="none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Georgia" charset="0"/>
                <a:cs typeface="Times New Roman" panose="02020603050405020304" pitchFamily="18" charset="0"/>
              </a:defRPr>
            </a:lvl1pPr>
          </a:lstStyle>
          <a:p>
            <a:pPr marL="228600" lvl="0" indent="-228600"/>
            <a:r>
              <a:rPr lang="en-US" dirty="0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6B7FD7-3E90-4537-B735-FE53FE2846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700" y="614926"/>
            <a:ext cx="1725280" cy="68705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D7FB0F3-C68F-4552-BD8D-CFEC2F4583B3}"/>
              </a:ext>
            </a:extLst>
          </p:cNvPr>
          <p:cNvSpPr/>
          <p:nvPr userDrawn="1"/>
        </p:nvSpPr>
        <p:spPr>
          <a:xfrm>
            <a:off x="9249341" y="6317715"/>
            <a:ext cx="1123064" cy="230832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900" b="1" dirty="0">
                <a:solidFill>
                  <a:schemeClr val="bg1"/>
                </a:solidFill>
                <a:cs typeface="Insignia LT"/>
              </a:rPr>
              <a:t>aceinfosolutions.com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BE4675-1953-4568-B9AA-BAD37239281C}"/>
              </a:ext>
            </a:extLst>
          </p:cNvPr>
          <p:cNvSpPr/>
          <p:nvPr userDrawn="1"/>
        </p:nvSpPr>
        <p:spPr>
          <a:xfrm>
            <a:off x="9249342" y="6480136"/>
            <a:ext cx="2381421" cy="200055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Copyright © 2019 | Ace Info Solutions,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270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709740"/>
            <a:ext cx="10666967" cy="171926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590925"/>
            <a:ext cx="10666967" cy="1363664"/>
          </a:xfrm>
        </p:spPr>
        <p:txBody>
          <a:bodyPr/>
          <a:lstStyle>
            <a:lvl1pPr marL="0" indent="0">
              <a:buNone/>
              <a:defRPr sz="1050" b="0" i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63DE5-7DD4-4289-8610-22DD4442B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726" y="4905729"/>
            <a:ext cx="2027274" cy="195227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B3D37E-9BCB-416B-A192-E492E7416858}"/>
              </a:ext>
            </a:extLst>
          </p:cNvPr>
          <p:cNvSpPr/>
          <p:nvPr userDrawn="1"/>
        </p:nvSpPr>
        <p:spPr>
          <a:xfrm>
            <a:off x="0" y="0"/>
            <a:ext cx="12192000" cy="177809"/>
          </a:xfrm>
          <a:prstGeom prst="rect">
            <a:avLst/>
          </a:prstGeom>
          <a:gradFill>
            <a:gsLst>
              <a:gs pos="46900">
                <a:schemeClr val="accent1"/>
              </a:gs>
              <a:gs pos="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B5F2C-70D6-4DB1-B148-F84B14FDC23D}"/>
              </a:ext>
            </a:extLst>
          </p:cNvPr>
          <p:cNvSpPr txBox="1"/>
          <p:nvPr userDrawn="1"/>
        </p:nvSpPr>
        <p:spPr>
          <a:xfrm>
            <a:off x="510363" y="6494931"/>
            <a:ext cx="9224187" cy="19563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defPPr>
              <a:defRPr lang="en-US"/>
            </a:defPPr>
            <a:lvl1pPr>
              <a:defRPr sz="700" b="1">
                <a:solidFill>
                  <a:schemeClr val="accent1"/>
                </a:solidFill>
                <a:cs typeface="Insignia LT"/>
              </a:defRPr>
            </a:lvl1pPr>
          </a:lstStyle>
          <a:p>
            <a:pPr lvl="0"/>
            <a:r>
              <a:rPr lang="en-US" dirty="0"/>
              <a:t>Ace Info Solutions, LLC - </a:t>
            </a:r>
            <a:r>
              <a:rPr lang="en-US" b="0" dirty="0"/>
              <a:t>Proprietary and Confidential</a:t>
            </a:r>
          </a:p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6D7E5F-68F8-406B-9EDE-B60D361048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602" y="397891"/>
            <a:ext cx="1010633" cy="40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46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F93DF3-2AA1-4E23-9817-4446C7CE8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9588" y="1322505"/>
            <a:ext cx="11088687" cy="492518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None/>
              <a:defRPr lang="en-US" sz="1600" b="1" i="0" cap="none" spc="0" baseline="0" smtClean="0">
                <a:solidFill>
                  <a:schemeClr val="bg2"/>
                </a:solidFill>
              </a:defRPr>
            </a:lvl1pPr>
            <a:lvl2pPr marL="171450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mtClean="0">
                <a:solidFill>
                  <a:schemeClr val="bg2"/>
                </a:solidFill>
              </a:defRPr>
            </a:lvl2pPr>
            <a:lvl3pPr marL="457200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  <a:defRPr lang="en-US" smtClean="0">
                <a:solidFill>
                  <a:schemeClr val="bg2"/>
                </a:solidFill>
              </a:defRPr>
            </a:lvl3pPr>
            <a:lvl4pPr marL="0" indent="0">
              <a:spcBef>
                <a:spcPts val="1200"/>
              </a:spcBef>
              <a:spcAft>
                <a:spcPts val="600"/>
              </a:spcAft>
              <a:buNone/>
              <a:defRPr lang="en-US" sz="1600" b="0" cap="all" spc="140" baseline="0" smtClean="0">
                <a:solidFill>
                  <a:schemeClr val="accent1"/>
                </a:solidFill>
              </a:defRPr>
            </a:lvl4pPr>
            <a:lvl5pPr marL="0" indent="0">
              <a:spcBef>
                <a:spcPts val="1200"/>
              </a:spcBef>
              <a:spcAft>
                <a:spcPts val="1200"/>
              </a:spcAft>
              <a:buNone/>
              <a:defRPr lang="en-US" i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655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F93DF3-2AA1-4E23-9817-4446C7CE8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9589" y="1322505"/>
            <a:ext cx="4819450" cy="492518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None/>
              <a:defRPr lang="en-US" sz="1600" b="1" i="0" cap="none" spc="0" baseline="0" smtClean="0">
                <a:solidFill>
                  <a:schemeClr val="bg2"/>
                </a:solidFill>
              </a:defRPr>
            </a:lvl1pPr>
            <a:lvl2pPr marL="171450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mtClean="0">
                <a:solidFill>
                  <a:schemeClr val="bg2"/>
                </a:solidFill>
              </a:defRPr>
            </a:lvl2pPr>
            <a:lvl3pPr marL="457200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  <a:defRPr lang="en-US" smtClean="0">
                <a:solidFill>
                  <a:schemeClr val="bg2"/>
                </a:solidFill>
              </a:defRPr>
            </a:lvl3pPr>
            <a:lvl4pPr marL="0" indent="0">
              <a:spcBef>
                <a:spcPts val="1200"/>
              </a:spcBef>
              <a:spcAft>
                <a:spcPts val="600"/>
              </a:spcAft>
              <a:buNone/>
              <a:defRPr lang="en-US" sz="1600" b="0" cap="all" spc="140" baseline="0" smtClean="0">
                <a:solidFill>
                  <a:schemeClr val="accent1"/>
                </a:solidFill>
              </a:defRPr>
            </a:lvl4pPr>
            <a:lvl5pPr marL="0" indent="0">
              <a:spcBef>
                <a:spcPts val="1200"/>
              </a:spcBef>
              <a:spcAft>
                <a:spcPts val="1200"/>
              </a:spcAft>
              <a:buNone/>
              <a:defRPr lang="en-US" i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0BDE5EA-083D-4EF6-8459-8ED3CF796B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4373" y="1322505"/>
            <a:ext cx="4819450" cy="492518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None/>
              <a:defRPr lang="en-US" sz="1600" b="1" i="0" cap="none" spc="0" baseline="0" smtClean="0">
                <a:solidFill>
                  <a:schemeClr val="bg2"/>
                </a:solidFill>
              </a:defRPr>
            </a:lvl1pPr>
            <a:lvl2pPr marL="171450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mtClean="0">
                <a:solidFill>
                  <a:schemeClr val="bg2"/>
                </a:solidFill>
              </a:defRPr>
            </a:lvl2pPr>
            <a:lvl3pPr marL="457200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  <a:defRPr lang="en-US" smtClean="0">
                <a:solidFill>
                  <a:schemeClr val="bg2"/>
                </a:solidFill>
              </a:defRPr>
            </a:lvl3pPr>
            <a:lvl4pPr marL="0" indent="0">
              <a:spcBef>
                <a:spcPts val="1200"/>
              </a:spcBef>
              <a:spcAft>
                <a:spcPts val="600"/>
              </a:spcAft>
              <a:buNone/>
              <a:defRPr lang="en-US" sz="1600" b="0" cap="all" spc="140" baseline="0" smtClean="0">
                <a:solidFill>
                  <a:schemeClr val="accent1"/>
                </a:solidFill>
              </a:defRPr>
            </a:lvl4pPr>
            <a:lvl5pPr marL="0" indent="0">
              <a:spcBef>
                <a:spcPts val="1200"/>
              </a:spcBef>
              <a:spcAft>
                <a:spcPts val="1200"/>
              </a:spcAft>
              <a:buNone/>
              <a:defRPr lang="en-US" i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05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65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02F3F1-D01E-44E4-AEBC-22DAE6F2FF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726" y="4905729"/>
            <a:ext cx="2027274" cy="1952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E1C866-6D0E-4CA6-BA38-C841523932A6}"/>
              </a:ext>
            </a:extLst>
          </p:cNvPr>
          <p:cNvSpPr/>
          <p:nvPr userDrawn="1"/>
        </p:nvSpPr>
        <p:spPr>
          <a:xfrm>
            <a:off x="0" y="0"/>
            <a:ext cx="12192000" cy="177809"/>
          </a:xfrm>
          <a:prstGeom prst="rect">
            <a:avLst/>
          </a:prstGeom>
          <a:gradFill>
            <a:gsLst>
              <a:gs pos="46900">
                <a:schemeClr val="accent1"/>
              </a:gs>
              <a:gs pos="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C5721-F7A3-4211-B73E-39D56568A092}"/>
              </a:ext>
            </a:extLst>
          </p:cNvPr>
          <p:cNvSpPr/>
          <p:nvPr userDrawn="1"/>
        </p:nvSpPr>
        <p:spPr>
          <a:xfrm>
            <a:off x="11488475" y="6494931"/>
            <a:ext cx="386324" cy="200055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r"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PAGE | </a:t>
            </a:r>
            <a:fld id="{EB71832E-C7FA-488C-9625-830D2B13F22F}" type="slidenum">
              <a:rPr lang="en-US" sz="700" b="1" smtClean="0">
                <a:solidFill>
                  <a:schemeClr val="bg1"/>
                </a:solidFill>
                <a:cs typeface="Insignia LT"/>
              </a:rPr>
              <a:t>‹#›</a:t>
            </a:fld>
            <a:endParaRPr lang="en-US" sz="700" b="1" dirty="0">
              <a:solidFill>
                <a:schemeClr val="bg1"/>
              </a:solidFill>
              <a:cs typeface="Insignia 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FBC68-1233-4F6D-AFE0-B98DC6A2367D}"/>
              </a:ext>
            </a:extLst>
          </p:cNvPr>
          <p:cNvSpPr txBox="1"/>
          <p:nvPr userDrawn="1"/>
        </p:nvSpPr>
        <p:spPr>
          <a:xfrm>
            <a:off x="510363" y="6494931"/>
            <a:ext cx="9224187" cy="19563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defPPr>
              <a:defRPr lang="en-US"/>
            </a:defPPr>
            <a:lvl1pPr>
              <a:defRPr sz="700" b="1">
                <a:solidFill>
                  <a:schemeClr val="accent1"/>
                </a:solidFill>
                <a:cs typeface="Insignia LT"/>
              </a:defRPr>
            </a:lvl1pPr>
          </a:lstStyle>
          <a:p>
            <a:pPr lvl="0"/>
            <a:r>
              <a:rPr lang="en-US" dirty="0"/>
              <a:t>Ace Info Solutions, LLC - </a:t>
            </a:r>
            <a:r>
              <a:rPr lang="en-US" b="0" dirty="0"/>
              <a:t>Proprietary and Confidential</a:t>
            </a:r>
          </a:p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021B45-7829-4F13-ACF3-E5FF284E4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602" y="397891"/>
            <a:ext cx="1010633" cy="40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4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26" b="1" i="0">
                <a:solidFill>
                  <a:srgbClr val="002D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92" b="0" i="0">
                <a:solidFill>
                  <a:srgbClr val="231F20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76" b="1" i="0">
                <a:solidFill>
                  <a:srgbClr val="2E78BD"/>
                </a:solidFill>
                <a:latin typeface="Montserrat SemiBold"/>
                <a:cs typeface="Montserrat SemiBold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pc="-24" dirty="0"/>
              <a:t>Dovel</a:t>
            </a:r>
            <a:r>
              <a:rPr lang="en-US" spc="-52" dirty="0"/>
              <a:t> </a:t>
            </a:r>
            <a:r>
              <a:rPr lang="en-US" spc="-21" dirty="0"/>
              <a:t>Technologies,</a:t>
            </a:r>
            <a:r>
              <a:rPr lang="en-US" spc="-49" dirty="0"/>
              <a:t> </a:t>
            </a:r>
            <a:r>
              <a:rPr lang="en-US" spc="-30" dirty="0"/>
              <a:t>LLC</a:t>
            </a:r>
            <a:r>
              <a:rPr lang="en-US" spc="-52" dirty="0"/>
              <a:t> </a:t>
            </a:r>
            <a:r>
              <a:rPr lang="en-US" spc="-3" dirty="0"/>
              <a:t>-</a:t>
            </a:r>
            <a:r>
              <a:rPr lang="en-US" spc="-49" dirty="0"/>
              <a:t> </a:t>
            </a:r>
            <a:r>
              <a:rPr lang="en-US" spc="-15" dirty="0"/>
              <a:t>Proprietary</a:t>
            </a:r>
            <a:r>
              <a:rPr lang="en-US" spc="-52" dirty="0"/>
              <a:t> </a:t>
            </a:r>
            <a:r>
              <a:rPr lang="en-US" spc="-9" dirty="0"/>
              <a:t>and</a:t>
            </a:r>
            <a:r>
              <a:rPr lang="en-US" spc="-49" dirty="0"/>
              <a:t> </a:t>
            </a:r>
            <a:r>
              <a:rPr lang="en-US" spc="-15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3/5/2020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1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23104">
              <a:spcBef>
                <a:spcPts val="197"/>
              </a:spcBef>
            </a:pPr>
            <a:fld id="{81D60167-4931-47E6-BA6A-407CBD079E47}" type="slidenum">
              <a:rPr lang="en-US" spc="-3" smtClean="0"/>
              <a:pPr marL="23104">
                <a:spcBef>
                  <a:spcPts val="197"/>
                </a:spcBef>
              </a:pPr>
              <a:t>‹#›</a:t>
            </a:fld>
            <a:endParaRPr lang="en-US" spc="-3" dirty="0"/>
          </a:p>
        </p:txBody>
      </p:sp>
    </p:spTree>
    <p:extLst>
      <p:ext uri="{BB962C8B-B14F-4D97-AF65-F5344CB8AC3E}">
        <p14:creationId xmlns:p14="http://schemas.microsoft.com/office/powerpoint/2010/main" val="329999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3233761"/>
            <a:ext cx="10363201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86" b="0" i="0">
                <a:solidFill>
                  <a:srgbClr val="939598"/>
                </a:solidFill>
                <a:latin typeface="Montserrat"/>
                <a:cs typeface="Montserrat"/>
              </a:defRPr>
            </a:lvl1pPr>
          </a:lstStyle>
          <a:p>
            <a:pPr marL="15403">
              <a:spcBef>
                <a:spcPts val="21"/>
              </a:spcBef>
            </a:pPr>
            <a:fld id="{81D60167-4931-47E6-BA6A-407CBD079E47}" type="slidenum">
              <a:rPr lang="en-US" spc="3" smtClean="0"/>
              <a:pPr marL="15403">
                <a:spcBef>
                  <a:spcPts val="21"/>
                </a:spcBef>
              </a:pPr>
              <a:t>‹#›</a:t>
            </a:fld>
            <a:endParaRPr lang="en-US" spc="3" dirty="0"/>
          </a:p>
        </p:txBody>
      </p:sp>
    </p:spTree>
    <p:extLst>
      <p:ext uri="{BB962C8B-B14F-4D97-AF65-F5344CB8AC3E}">
        <p14:creationId xmlns:p14="http://schemas.microsoft.com/office/powerpoint/2010/main" val="138858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607700A-4454-40A2-9322-AEE558881F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726" y="4905729"/>
            <a:ext cx="2027274" cy="19522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363" y="385431"/>
            <a:ext cx="10143460" cy="76276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363" y="1323353"/>
            <a:ext cx="10717618" cy="4853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dirty="0"/>
              <a:t>Click to edit Master text styles</a:t>
            </a:r>
          </a:p>
          <a:p>
            <a:pPr marL="171450" lvl="1" indent="-1714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457200" lvl="2" indent="-1714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-"/>
            </a:pPr>
            <a:r>
              <a:rPr lang="en-US" dirty="0"/>
              <a:t>Third level</a:t>
            </a:r>
          </a:p>
          <a:p>
            <a:pPr marL="0" lvl="3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/>
              <a:t>Fourth level</a:t>
            </a:r>
          </a:p>
          <a:p>
            <a:pPr marL="0" lvl="4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FA5688-7A92-4395-91BC-0D040E8A3608}"/>
              </a:ext>
            </a:extLst>
          </p:cNvPr>
          <p:cNvSpPr/>
          <p:nvPr userDrawn="1"/>
        </p:nvSpPr>
        <p:spPr>
          <a:xfrm>
            <a:off x="11488475" y="6494931"/>
            <a:ext cx="386324" cy="200055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r">
              <a:defRPr/>
            </a:pPr>
            <a:r>
              <a:rPr lang="en-US" sz="700" dirty="0">
                <a:solidFill>
                  <a:schemeClr val="bg1"/>
                </a:solidFill>
                <a:cs typeface="Insignia LT"/>
              </a:rPr>
              <a:t>PAGE | </a:t>
            </a:r>
            <a:fld id="{EB71832E-C7FA-488C-9625-830D2B13F22F}" type="slidenum">
              <a:rPr lang="en-US" sz="700" b="1" smtClean="0">
                <a:solidFill>
                  <a:schemeClr val="bg1"/>
                </a:solidFill>
                <a:cs typeface="Insignia LT"/>
              </a:rPr>
              <a:t>‹#›</a:t>
            </a:fld>
            <a:endParaRPr lang="en-US" sz="700" b="1" dirty="0">
              <a:solidFill>
                <a:schemeClr val="bg1"/>
              </a:solidFill>
              <a:cs typeface="Insignia 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CCFE8E-A873-459B-963F-D1D8283A308C}"/>
              </a:ext>
            </a:extLst>
          </p:cNvPr>
          <p:cNvCxnSpPr>
            <a:cxnSpLocks/>
          </p:cNvCxnSpPr>
          <p:nvPr userDrawn="1"/>
        </p:nvCxnSpPr>
        <p:spPr>
          <a:xfrm>
            <a:off x="510363" y="1190360"/>
            <a:ext cx="11040556" cy="0"/>
          </a:xfrm>
          <a:prstGeom prst="line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DFB1848-85BF-4208-84BC-70CC91F69920}"/>
              </a:ext>
            </a:extLst>
          </p:cNvPr>
          <p:cNvSpPr/>
          <p:nvPr userDrawn="1"/>
        </p:nvSpPr>
        <p:spPr>
          <a:xfrm>
            <a:off x="0" y="0"/>
            <a:ext cx="12192000" cy="177809"/>
          </a:xfrm>
          <a:prstGeom prst="rect">
            <a:avLst/>
          </a:prstGeom>
          <a:gradFill>
            <a:gsLst>
              <a:gs pos="46900">
                <a:schemeClr val="accent1"/>
              </a:gs>
              <a:gs pos="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8CD89-348D-44CF-9035-8BE177CACE91}"/>
              </a:ext>
            </a:extLst>
          </p:cNvPr>
          <p:cNvSpPr txBox="1"/>
          <p:nvPr userDrawn="1"/>
        </p:nvSpPr>
        <p:spPr>
          <a:xfrm>
            <a:off x="510363" y="6494931"/>
            <a:ext cx="9224187" cy="19563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defPPr>
              <a:defRPr lang="en-US"/>
            </a:defPPr>
            <a:lvl1pPr>
              <a:defRPr sz="700" b="1">
                <a:solidFill>
                  <a:schemeClr val="accent1"/>
                </a:solidFill>
                <a:cs typeface="Insignia LT"/>
              </a:defRPr>
            </a:lvl1pPr>
          </a:lstStyle>
          <a:p>
            <a:pPr lvl="0"/>
            <a:r>
              <a:rPr lang="en-US" dirty="0"/>
              <a:t>Ace Info Solutions, LLC - </a:t>
            </a:r>
            <a:r>
              <a:rPr lang="en-US" b="0" dirty="0"/>
              <a:t>Proprietary and Confidential</a:t>
            </a:r>
          </a:p>
          <a:p>
            <a:pPr lvl="0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076B8E-ADA9-4CA2-907E-626526FF5E1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602" y="397891"/>
            <a:ext cx="1010633" cy="40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9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kern="1200" cap="all" spc="140" baseline="0">
          <a:solidFill>
            <a:srgbClr val="002D71"/>
          </a:solidFill>
          <a:latin typeface="+mn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1600" b="1" i="0" kern="1200" cap="none" spc="0" baseline="0" dirty="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-"/>
        <a:defRPr lang="en-US" sz="1600" kern="1200" dirty="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dirty="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kern="1200" cap="all" spc="140" baseline="0" dirty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i="1" kern="1200" dirty="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890319-8FAE-48AB-AA4F-902FA7B3A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810" y="2541864"/>
            <a:ext cx="6673111" cy="1421104"/>
          </a:xfrm>
        </p:spPr>
        <p:txBody>
          <a:bodyPr/>
          <a:lstStyle/>
          <a:p>
            <a:pPr algn="ctr"/>
            <a:r>
              <a:rPr lang="en-US" sz="3200" b="1" dirty="0" err="1"/>
              <a:t>DevSecOps</a:t>
            </a:r>
            <a:r>
              <a:rPr lang="en-US" sz="3200" b="1" dirty="0"/>
              <a:t> and PaaS Solutions 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2846A8-9214-46E6-9591-A2B8A0DBC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37" y="4227680"/>
            <a:ext cx="7417273" cy="697769"/>
          </a:xfrm>
        </p:spPr>
        <p:txBody>
          <a:bodyPr/>
          <a:lstStyle/>
          <a:p>
            <a:r>
              <a:rPr lang="en-US" dirty="0"/>
              <a:t>March 05, 2020</a:t>
            </a:r>
          </a:p>
        </p:txBody>
      </p:sp>
    </p:spTree>
    <p:extLst>
      <p:ext uri="{BB962C8B-B14F-4D97-AF65-F5344CB8AC3E}">
        <p14:creationId xmlns:p14="http://schemas.microsoft.com/office/powerpoint/2010/main" val="89817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773A-12F3-40BA-A63E-B0061955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63" y="329505"/>
            <a:ext cx="10730885" cy="759200"/>
          </a:xfrm>
        </p:spPr>
        <p:txBody>
          <a:bodyPr/>
          <a:lstStyle/>
          <a:p>
            <a:r>
              <a:rPr lang="en-US" dirty="0" err="1"/>
              <a:t>devsecops</a:t>
            </a:r>
            <a:r>
              <a:rPr lang="en-US" dirty="0"/>
              <a:t> orchestration</a:t>
            </a:r>
            <a:br>
              <a:rPr lang="en-US" dirty="0"/>
            </a:br>
            <a:r>
              <a:rPr lang="en-US" b="0" dirty="0"/>
              <a:t>continuous Integration &amp; Continuous Delivery (CI/CD)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A4C5F-2668-4EA9-B5F1-82395C99F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90" y="1327378"/>
            <a:ext cx="10155096" cy="507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7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E1FC-529A-4EAC-AC02-83F78781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 as a service (</a:t>
            </a:r>
            <a:r>
              <a:rPr lang="en-US" dirty="0" err="1"/>
              <a:t>pAAS</a:t>
            </a:r>
            <a:r>
              <a:rPr lang="en-US" dirty="0"/>
              <a:t>)</a:t>
            </a:r>
            <a:br>
              <a:rPr lang="en-US" dirty="0"/>
            </a:br>
            <a:r>
              <a:rPr lang="en-US" b="0" dirty="0"/>
              <a:t>CONTAINERIZE APPICAITON BUILDs AND SOFTWARE LIBRARIES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D4523C4-6DB0-4F71-A465-AA2A2FE72B72}"/>
              </a:ext>
            </a:extLst>
          </p:cNvPr>
          <p:cNvSpPr txBox="1"/>
          <p:nvPr/>
        </p:nvSpPr>
        <p:spPr>
          <a:xfrm>
            <a:off x="1019540" y="1738643"/>
            <a:ext cx="2993380" cy="392539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245286" indent="-237970">
              <a:spcBef>
                <a:spcPts val="70"/>
              </a:spcBef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Package Once and Deploy Anywhere</a:t>
            </a:r>
            <a:endParaRPr sz="1400" spc="-85" dirty="0">
              <a:solidFill>
                <a:srgbClr val="231F20"/>
              </a:solidFill>
              <a:latin typeface="Montserrat Light"/>
            </a:endParaRP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Immutable and Reusable</a:t>
            </a: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Standardized Environments</a:t>
            </a:r>
          </a:p>
          <a:p>
            <a:pPr marL="245286" indent="-237970"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Effective Configuration Management</a:t>
            </a: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Portability and Integrity</a:t>
            </a: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Cloud Readiness</a:t>
            </a: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Interoperability</a:t>
            </a: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Infrastructure as Code</a:t>
            </a: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Security as Code / ATO</a:t>
            </a:r>
          </a:p>
          <a:p>
            <a:pPr marL="245286" indent="-237970">
              <a:lnSpc>
                <a:spcPct val="150000"/>
              </a:lnSpc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lang="en-US" sz="1400" spc="-85" dirty="0">
                <a:solidFill>
                  <a:srgbClr val="231F20"/>
                </a:solidFill>
                <a:latin typeface="Montserrat Light"/>
              </a:rPr>
              <a:t>Rapid Provisioning and Scaling</a:t>
            </a:r>
          </a:p>
          <a:p>
            <a:pPr marL="245286" indent="-237970"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endParaRPr lang="en-US" sz="1400" dirty="0">
              <a:latin typeface="Montserrat Light" panose="00000400000000000000" pitchFamily="50" charset="0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Font typeface="Webdings"/>
              <a:buChar char="■"/>
              <a:tabLst>
                <a:tab pos="495962" algn="l"/>
                <a:tab pos="496347" algn="l"/>
              </a:tabLst>
            </a:pPr>
            <a:endParaRPr sz="1400" dirty="0">
              <a:latin typeface="Montserrat Light"/>
              <a:cs typeface="Montserrat Light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32E9A3D-6A78-42C9-A46B-5A73F3467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615" y="1251886"/>
            <a:ext cx="7515746" cy="415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0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177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3736" y="345890"/>
            <a:ext cx="10775292" cy="756336"/>
          </a:xfrm>
          <a:prstGeom prst="rect">
            <a:avLst/>
          </a:prstGeom>
        </p:spPr>
        <p:txBody>
          <a:bodyPr vert="horz" wrap="square" lIns="0" tIns="9627" rIns="0" bIns="0" rtlCol="0" anchor="b" anchorCtr="0">
            <a:spAutoFit/>
          </a:bodyPr>
          <a:lstStyle/>
          <a:p>
            <a:pPr marL="7701">
              <a:lnSpc>
                <a:spcPct val="100000"/>
              </a:lnSpc>
              <a:spcBef>
                <a:spcPts val="76"/>
              </a:spcBef>
            </a:pPr>
            <a:r>
              <a:rPr lang="en-US" dirty="0"/>
              <a:t>Platform as a service (</a:t>
            </a:r>
            <a:r>
              <a:rPr lang="en-US" dirty="0" err="1"/>
              <a:t>pAAS</a:t>
            </a:r>
            <a:r>
              <a:rPr lang="en-US" dirty="0"/>
              <a:t>)</a:t>
            </a:r>
            <a:br>
              <a:rPr lang="en-US" dirty="0"/>
            </a:br>
            <a:r>
              <a:rPr lang="en-US" b="0" dirty="0"/>
              <a:t>Kubernetes based container orchestration</a:t>
            </a:r>
            <a:endParaRPr sz="1800" b="0" spc="21" dirty="0"/>
          </a:p>
        </p:txBody>
      </p:sp>
      <p:sp>
        <p:nvSpPr>
          <p:cNvPr id="5" name="object 5"/>
          <p:cNvSpPr txBox="1"/>
          <p:nvPr/>
        </p:nvSpPr>
        <p:spPr>
          <a:xfrm>
            <a:off x="782972" y="2044417"/>
            <a:ext cx="2689790" cy="4079288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245286" indent="-237970">
              <a:lnSpc>
                <a:spcPct val="150000"/>
              </a:lnSpc>
              <a:spcBef>
                <a:spcPts val="70"/>
              </a:spcBef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sz="1200" b="1" spc="-85" dirty="0">
                <a:solidFill>
                  <a:srgbClr val="231F20"/>
                </a:solidFill>
                <a:latin typeface="Montserrat SemiBold" panose="00000700000000000000" pitchFamily="50" charset="0"/>
                <a:cs typeface="Montserrat Light"/>
              </a:rPr>
              <a:t>Turnkey</a:t>
            </a:r>
            <a:r>
              <a:rPr sz="1200" b="1" spc="-82" dirty="0">
                <a:solidFill>
                  <a:srgbClr val="231F20"/>
                </a:solidFill>
                <a:latin typeface="Montserrat SemiBold" panose="00000700000000000000" pitchFamily="50" charset="0"/>
                <a:cs typeface="Montserrat Light"/>
              </a:rPr>
              <a:t> </a:t>
            </a:r>
            <a:r>
              <a:rPr sz="1200" b="1" spc="-55" dirty="0">
                <a:solidFill>
                  <a:srgbClr val="231F20"/>
                </a:solidFill>
                <a:latin typeface="Montserrat SemiBold" panose="00000700000000000000" pitchFamily="50" charset="0"/>
                <a:cs typeface="Montserrat Light"/>
              </a:rPr>
              <a:t>Solutions</a:t>
            </a:r>
            <a:endParaRPr lang="en-US" sz="1200" b="1" spc="-55" dirty="0">
              <a:solidFill>
                <a:srgbClr val="231F20"/>
              </a:solidFill>
              <a:latin typeface="Montserrat SemiBold" panose="00000700000000000000" pitchFamily="50" charset="0"/>
              <a:cs typeface="Montserrat Light"/>
            </a:endParaRPr>
          </a:p>
          <a:p>
            <a:pPr marL="495962" lvl="1" indent="-255297">
              <a:spcAft>
                <a:spcPts val="300"/>
              </a:spcAft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</a:rPr>
              <a:t>Service Catalog / Templates</a:t>
            </a:r>
          </a:p>
          <a:p>
            <a:pPr marL="495962" lvl="1" indent="-255297">
              <a:spcAft>
                <a:spcPts val="300"/>
              </a:spcAft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</a:rPr>
              <a:t>Rapid Provisioning/Scaling</a:t>
            </a:r>
          </a:p>
          <a:p>
            <a:pPr marL="495962" lvl="1" indent="-255297">
              <a:spcAft>
                <a:spcPts val="300"/>
              </a:spcAft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</a:rPr>
              <a:t>Security and ATO</a:t>
            </a:r>
          </a:p>
          <a:p>
            <a:pPr marL="495962" lvl="1" indent="-255297">
              <a:spcAft>
                <a:spcPts val="300"/>
              </a:spcAft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</a:rPr>
              <a:t>Zero Downtime Deployments (ZDD)</a:t>
            </a:r>
          </a:p>
          <a:p>
            <a:pPr marL="495962" lvl="1" indent="-255297">
              <a:spcBef>
                <a:spcPts val="285"/>
              </a:spcBef>
              <a:spcAft>
                <a:spcPts val="300"/>
              </a:spcAft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</a:rPr>
              <a:t>Self-Healing</a:t>
            </a:r>
          </a:p>
          <a:p>
            <a:pPr marL="495962" lvl="1" indent="-255297">
              <a:spcBef>
                <a:spcPts val="285"/>
              </a:spcBef>
              <a:spcAft>
                <a:spcPts val="300"/>
              </a:spcAft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</a:rPr>
              <a:t>Monitoring and Logging</a:t>
            </a:r>
            <a:endParaRPr sz="1200" spc="-6" dirty="0">
              <a:solidFill>
                <a:srgbClr val="231F20"/>
              </a:solidFill>
              <a:latin typeface="Montserrat Light"/>
            </a:endParaRPr>
          </a:p>
          <a:p>
            <a:pPr marL="495962" lvl="1" indent="-255297">
              <a:spcBef>
                <a:spcPts val="285"/>
              </a:spcBef>
              <a:spcAft>
                <a:spcPts val="300"/>
              </a:spcAft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sz="1200" spc="-6" dirty="0">
                <a:solidFill>
                  <a:srgbClr val="231F20"/>
                </a:solidFill>
                <a:latin typeface="Montserrat Light"/>
              </a:rPr>
              <a:t>AIOPs</a:t>
            </a:r>
          </a:p>
          <a:p>
            <a:pPr lvl="1">
              <a:spcBef>
                <a:spcPts val="18"/>
              </a:spcBef>
              <a:buClr>
                <a:srgbClr val="54B747"/>
              </a:buClr>
              <a:buFont typeface="Webdings"/>
              <a:buChar char="■"/>
            </a:pPr>
            <a:endParaRPr sz="1200" dirty="0">
              <a:latin typeface="Montserrat Light"/>
              <a:cs typeface="Montserrat Light"/>
            </a:endParaRPr>
          </a:p>
          <a:p>
            <a:pPr marL="245286" indent="-237970">
              <a:buClr>
                <a:srgbClr val="54B747"/>
              </a:buClr>
              <a:buFont typeface="Wingdings"/>
              <a:buChar char=""/>
              <a:tabLst>
                <a:tab pos="245286" algn="l"/>
                <a:tab pos="245671" algn="l"/>
              </a:tabLst>
            </a:pPr>
            <a:r>
              <a:rPr sz="1200" b="1" spc="-85" dirty="0">
                <a:solidFill>
                  <a:srgbClr val="231F20"/>
                </a:solidFill>
                <a:latin typeface="Montserrat SemiBold" panose="00000700000000000000" pitchFamily="50" charset="0"/>
                <a:cs typeface="Montserrat Light"/>
              </a:rPr>
              <a:t>Turnkey</a:t>
            </a:r>
            <a:r>
              <a:rPr sz="1200" b="1" spc="-94" dirty="0">
                <a:solidFill>
                  <a:srgbClr val="231F20"/>
                </a:solidFill>
                <a:latin typeface="Montserrat SemiBold" panose="00000700000000000000" pitchFamily="50" charset="0"/>
                <a:cs typeface="Montserrat Light"/>
              </a:rPr>
              <a:t> </a:t>
            </a:r>
            <a:r>
              <a:rPr sz="1200" b="1" spc="-67" dirty="0">
                <a:solidFill>
                  <a:srgbClr val="231F20"/>
                </a:solidFill>
                <a:latin typeface="Montserrat SemiBold" panose="00000700000000000000" pitchFamily="50" charset="0"/>
                <a:cs typeface="Montserrat Light"/>
              </a:rPr>
              <a:t>Platforms</a:t>
            </a:r>
            <a:r>
              <a:rPr lang="en-US" sz="1200" b="1" dirty="0">
                <a:latin typeface="Montserrat SemiBold" panose="00000700000000000000" pitchFamily="50" charset="0"/>
              </a:rPr>
              <a:t>ernetes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  <a:cs typeface="Montserrat Light"/>
              </a:rPr>
              <a:t>Kubernetes 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  <a:cs typeface="Montserrat Light"/>
              </a:rPr>
              <a:t>Openshift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3" dirty="0">
                <a:solidFill>
                  <a:srgbClr val="231F20"/>
                </a:solidFill>
                <a:latin typeface="Montserrat Light"/>
                <a:cs typeface="Montserrat Light"/>
              </a:rPr>
              <a:t>Redhat </a:t>
            </a:r>
            <a:r>
              <a:rPr lang="en-US" sz="1200" spc="-6" dirty="0">
                <a:solidFill>
                  <a:srgbClr val="231F20"/>
                </a:solidFill>
                <a:latin typeface="Montserrat Light"/>
                <a:cs typeface="Montserrat Light"/>
              </a:rPr>
              <a:t>Openshift  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6" dirty="0">
                <a:solidFill>
                  <a:srgbClr val="231F20"/>
                </a:solidFill>
                <a:latin typeface="Montserrat Light"/>
                <a:cs typeface="Montserrat Light"/>
              </a:rPr>
              <a:t>Google </a:t>
            </a:r>
            <a:r>
              <a:rPr lang="en-US" sz="1200" spc="3" dirty="0">
                <a:solidFill>
                  <a:srgbClr val="231F20"/>
                </a:solidFill>
                <a:latin typeface="Montserrat Light"/>
                <a:cs typeface="Montserrat Light"/>
              </a:rPr>
              <a:t>Cloud </a:t>
            </a:r>
            <a:r>
              <a:rPr lang="en-US" sz="1200" spc="6" dirty="0">
                <a:solidFill>
                  <a:srgbClr val="231F20"/>
                </a:solidFill>
                <a:latin typeface="Montserrat Light"/>
                <a:cs typeface="Montserrat Light"/>
              </a:rPr>
              <a:t>(GKE) 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-33" dirty="0">
                <a:solidFill>
                  <a:srgbClr val="231F20"/>
                </a:solidFill>
                <a:latin typeface="Montserrat Light"/>
                <a:cs typeface="Montserrat Light"/>
              </a:rPr>
              <a:t>AWS </a:t>
            </a:r>
            <a:r>
              <a:rPr lang="en-US" sz="1200" spc="-6" dirty="0">
                <a:solidFill>
                  <a:srgbClr val="231F20"/>
                </a:solidFill>
                <a:latin typeface="Montserrat Light"/>
                <a:cs typeface="Montserrat Light"/>
              </a:rPr>
              <a:t>(ECS, </a:t>
            </a:r>
            <a:r>
              <a:rPr lang="en-US" sz="1200" dirty="0">
                <a:solidFill>
                  <a:srgbClr val="231F20"/>
                </a:solidFill>
                <a:latin typeface="Montserrat Light"/>
                <a:cs typeface="Montserrat Light"/>
              </a:rPr>
              <a:t>EKS)  </a:t>
            </a: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SzPct val="150000"/>
              <a:buFont typeface="Wingdings" panose="05000000000000000000" pitchFamily="2" charset="2"/>
              <a:buChar char="§"/>
              <a:tabLst>
                <a:tab pos="495962" algn="l"/>
                <a:tab pos="496347" algn="l"/>
              </a:tabLst>
            </a:pPr>
            <a:r>
              <a:rPr lang="en-US" sz="1200" spc="9" dirty="0">
                <a:solidFill>
                  <a:srgbClr val="231F20"/>
                </a:solidFill>
                <a:latin typeface="Montserrat Light"/>
                <a:cs typeface="Montserrat Light"/>
              </a:rPr>
              <a:t>AZURE </a:t>
            </a:r>
            <a:r>
              <a:rPr lang="en-US" sz="1200" spc="6" dirty="0">
                <a:solidFill>
                  <a:srgbClr val="231F20"/>
                </a:solidFill>
                <a:latin typeface="Montserrat Light"/>
                <a:cs typeface="Montserrat Light"/>
              </a:rPr>
              <a:t>(CS,</a:t>
            </a:r>
            <a:r>
              <a:rPr lang="en-US" sz="1200" spc="-15" dirty="0">
                <a:solidFill>
                  <a:srgbClr val="231F20"/>
                </a:solidFill>
                <a:latin typeface="Montserrat Light"/>
                <a:cs typeface="Montserrat Light"/>
              </a:rPr>
              <a:t> </a:t>
            </a:r>
            <a:r>
              <a:rPr lang="en-US" sz="1200" spc="6" dirty="0">
                <a:solidFill>
                  <a:srgbClr val="231F20"/>
                </a:solidFill>
                <a:latin typeface="Montserrat Light"/>
                <a:cs typeface="Montserrat Light"/>
              </a:rPr>
              <a:t>KS)</a:t>
            </a:r>
            <a:endParaRPr lang="en-US" sz="1200" dirty="0">
              <a:latin typeface="Montserrat Light"/>
              <a:cs typeface="Montserrat Light"/>
            </a:endParaRPr>
          </a:p>
          <a:p>
            <a:pPr marL="495962" lvl="1" indent="-255297">
              <a:spcBef>
                <a:spcPts val="285"/>
              </a:spcBef>
              <a:buClr>
                <a:srgbClr val="54B747"/>
              </a:buClr>
              <a:buFont typeface="Webdings"/>
              <a:buChar char="■"/>
              <a:tabLst>
                <a:tab pos="495962" algn="l"/>
                <a:tab pos="496347" algn="l"/>
              </a:tabLst>
            </a:pPr>
            <a:endParaRPr sz="1200" dirty="0">
              <a:latin typeface="Montserrat Light"/>
              <a:cs typeface="Montserrat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21169" y="1394275"/>
            <a:ext cx="7987859" cy="4712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 dirty="0"/>
          </a:p>
        </p:txBody>
      </p:sp>
      <p:pic>
        <p:nvPicPr>
          <p:cNvPr id="1030" name="Picture 6" descr="Image result for docker and kubernetes">
            <a:extLst>
              <a:ext uri="{FF2B5EF4-FFF2-40B4-BE49-F238E27FC236}">
                <a16:creationId xmlns:a16="http://schemas.microsoft.com/office/drawing/2014/main" id="{C233DD8C-DA5B-4910-A560-AED7858D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379" y="5202009"/>
            <a:ext cx="1541756" cy="77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256546-6FA6-475F-805F-AE1DEC10395D}"/>
              </a:ext>
            </a:extLst>
          </p:cNvPr>
          <p:cNvSpPr/>
          <p:nvPr/>
        </p:nvSpPr>
        <p:spPr>
          <a:xfrm>
            <a:off x="1433492" y="1419433"/>
            <a:ext cx="3975353" cy="30777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marL="240665" lvl="1">
              <a:spcBef>
                <a:spcPts val="288"/>
              </a:spcBef>
              <a:buClr>
                <a:srgbClr val="54B747"/>
              </a:buClr>
              <a:buSzPct val="150000"/>
              <a:tabLst>
                <a:tab pos="495962" algn="l"/>
                <a:tab pos="496347" algn="l"/>
              </a:tabLst>
            </a:pPr>
            <a:r>
              <a:rPr lang="en-US" sz="1400" b="1" spc="-6" dirty="0">
                <a:solidFill>
                  <a:schemeClr val="bg1"/>
                </a:solidFill>
                <a:latin typeface="Montserrat Medium" panose="00000600000000000000" pitchFamily="50" charset="0"/>
              </a:rPr>
              <a:t>On Premise, Hybrid and Multi-Cloud</a:t>
            </a:r>
          </a:p>
        </p:txBody>
      </p:sp>
    </p:spTree>
    <p:extLst>
      <p:ext uri="{BB962C8B-B14F-4D97-AF65-F5344CB8AC3E}">
        <p14:creationId xmlns:p14="http://schemas.microsoft.com/office/powerpoint/2010/main" val="35401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725071" y="1601486"/>
            <a:ext cx="7515305" cy="30631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  <a:tabLst>
                <a:tab pos="5785972" algn="l"/>
              </a:tabLst>
            </a:pPr>
            <a:r>
              <a:rPr sz="1940" b="1" spc="-73" dirty="0">
                <a:solidFill>
                  <a:srgbClr val="093E5E"/>
                </a:solidFill>
                <a:latin typeface="Montserrat-SemiBold"/>
                <a:cs typeface="Montserrat-SemiBold"/>
              </a:rPr>
              <a:t>Warm</a:t>
            </a:r>
            <a:r>
              <a:rPr sz="1940" b="1" spc="-118" dirty="0">
                <a:solidFill>
                  <a:srgbClr val="093E5E"/>
                </a:solidFill>
                <a:latin typeface="Montserrat-SemiBold"/>
                <a:cs typeface="Montserrat-SemiBold"/>
              </a:rPr>
              <a:t> </a:t>
            </a:r>
            <a:r>
              <a:rPr sz="1940" b="1" spc="-55" dirty="0">
                <a:solidFill>
                  <a:srgbClr val="093E5E"/>
                </a:solidFill>
                <a:latin typeface="Montserrat-SemiBold"/>
                <a:cs typeface="Montserrat-SemiBold"/>
              </a:rPr>
              <a:t>Standby	Active </a:t>
            </a:r>
            <a:r>
              <a:rPr sz="1940" b="1" dirty="0">
                <a:solidFill>
                  <a:srgbClr val="093E5E"/>
                </a:solidFill>
                <a:latin typeface="Montserrat-SemiBold"/>
                <a:cs typeface="Montserrat-SemiBold"/>
              </a:rPr>
              <a:t>-</a:t>
            </a:r>
            <a:r>
              <a:rPr sz="1940" b="1" spc="-218" dirty="0">
                <a:solidFill>
                  <a:srgbClr val="093E5E"/>
                </a:solidFill>
                <a:latin typeface="Montserrat-SemiBold"/>
                <a:cs typeface="Montserrat-SemiBold"/>
              </a:rPr>
              <a:t> </a:t>
            </a:r>
            <a:r>
              <a:rPr sz="1940" b="1" spc="-55" dirty="0">
                <a:solidFill>
                  <a:srgbClr val="093E5E"/>
                </a:solidFill>
                <a:latin typeface="Montserrat-SemiBold"/>
                <a:cs typeface="Montserrat-SemiBold"/>
              </a:rPr>
              <a:t>Active</a:t>
            </a:r>
            <a:endParaRPr sz="1940" dirty="0">
              <a:latin typeface="Montserrat-SemiBold"/>
              <a:cs typeface="Montserrat-SemiBold"/>
            </a:endParaRPr>
          </a:p>
        </p:txBody>
      </p:sp>
      <p:pic>
        <p:nvPicPr>
          <p:cNvPr id="5" name="Picture 6" descr="Image result for docker and kubernetes">
            <a:extLst>
              <a:ext uri="{FF2B5EF4-FFF2-40B4-BE49-F238E27FC236}">
                <a16:creationId xmlns:a16="http://schemas.microsoft.com/office/drawing/2014/main" id="{B21950DE-7EBC-460D-B689-58FB13A2A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756" y="1286481"/>
            <a:ext cx="1369293" cy="68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5A8715D2-2244-4613-A400-6163E8613196}"/>
              </a:ext>
            </a:extLst>
          </p:cNvPr>
          <p:cNvSpPr txBox="1">
            <a:spLocks/>
          </p:cNvSpPr>
          <p:nvPr/>
        </p:nvSpPr>
        <p:spPr>
          <a:xfrm>
            <a:off x="633736" y="341017"/>
            <a:ext cx="10775292" cy="761209"/>
          </a:xfrm>
          <a:prstGeom prst="rect">
            <a:avLst/>
          </a:prstGeom>
        </p:spPr>
        <p:txBody>
          <a:bodyPr vert="horz" wrap="square" lIns="0" tIns="9627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 cap="all" spc="140" baseline="0">
                <a:solidFill>
                  <a:srgbClr val="002D7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7701">
              <a:lnSpc>
                <a:spcPct val="100000"/>
              </a:lnSpc>
              <a:spcBef>
                <a:spcPts val="76"/>
              </a:spcBef>
            </a:pPr>
            <a:r>
              <a:rPr lang="en-US" dirty="0"/>
              <a:t>Platform as a service (</a:t>
            </a:r>
            <a:r>
              <a:rPr lang="en-US" dirty="0" err="1"/>
              <a:t>pAAS</a:t>
            </a:r>
            <a:r>
              <a:rPr lang="en-US" dirty="0"/>
              <a:t>) </a:t>
            </a:r>
          </a:p>
          <a:p>
            <a:pPr marL="7701">
              <a:lnSpc>
                <a:spcPct val="100000"/>
              </a:lnSpc>
              <a:spcBef>
                <a:spcPts val="76"/>
              </a:spcBef>
            </a:pPr>
            <a:r>
              <a:rPr lang="en-US" b="0" dirty="0"/>
              <a:t>Disaster recovery and failover - Kubernetes based orchestration</a:t>
            </a:r>
            <a:endParaRPr lang="en-US" sz="1800" b="0" spc="2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E7E42-670C-455D-85D1-6FEE7B1C5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661" y="1949472"/>
            <a:ext cx="10081950" cy="427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ECBA-ECF7-4696-97FA-FCEF38C3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9DCDA-20B4-4599-927D-DB0E0E3401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 initial Discovery Sessions with SDB, ISDB and WCCIS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with WCCIS team to identify and leverage existing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Demonstrate solutions developed by AceInfo Center of Excellence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Prioritize the findings and improvements required and plan for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Collaborate with WCCIS team to implement </a:t>
            </a:r>
            <a:r>
              <a:rPr lang="en-US" dirty="0" err="1"/>
              <a:t>DevSecOps</a:t>
            </a:r>
            <a:r>
              <a:rPr lang="en-US" dirty="0"/>
              <a:t> and PaaS solutions in phased manner</a:t>
            </a:r>
          </a:p>
        </p:txBody>
      </p:sp>
    </p:spTree>
    <p:extLst>
      <p:ext uri="{BB962C8B-B14F-4D97-AF65-F5344CB8AC3E}">
        <p14:creationId xmlns:p14="http://schemas.microsoft.com/office/powerpoint/2010/main" val="3869245514"/>
      </p:ext>
    </p:extLst>
  </p:cSld>
  <p:clrMapOvr>
    <a:masterClrMapping/>
  </p:clrMapOvr>
</p:sld>
</file>

<file path=ppt/theme/theme1.xml><?xml version="1.0" encoding="utf-8"?>
<a:theme xmlns:a="http://schemas.openxmlformats.org/drawingml/2006/main" name="AceInfo Office Theme">
  <a:themeElements>
    <a:clrScheme name="Dovel">
      <a:dk1>
        <a:srgbClr val="FFFFFF"/>
      </a:dk1>
      <a:lt1>
        <a:srgbClr val="FFFFFF"/>
      </a:lt1>
      <a:dk2>
        <a:srgbClr val="002D71"/>
      </a:dk2>
      <a:lt2>
        <a:srgbClr val="000000"/>
      </a:lt2>
      <a:accent1>
        <a:srgbClr val="0E4BA3"/>
      </a:accent1>
      <a:accent2>
        <a:srgbClr val="F08422"/>
      </a:accent2>
      <a:accent3>
        <a:srgbClr val="A5A5A5"/>
      </a:accent3>
      <a:accent4>
        <a:srgbClr val="000000"/>
      </a:accent4>
      <a:accent5>
        <a:srgbClr val="5B9BD5"/>
      </a:accent5>
      <a:accent6>
        <a:srgbClr val="4CB848"/>
      </a:accent6>
      <a:hlink>
        <a:srgbClr val="0E4BA3"/>
      </a:hlink>
      <a:folHlink>
        <a:srgbClr val="7F7F7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209</Words>
  <Application>Microsoft Office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Calibri</vt:lpstr>
      <vt:lpstr>Courier New</vt:lpstr>
      <vt:lpstr>Montserrat</vt:lpstr>
      <vt:lpstr>Montserrat Light</vt:lpstr>
      <vt:lpstr>Montserrat Medium</vt:lpstr>
      <vt:lpstr>Montserrat SemiBold</vt:lpstr>
      <vt:lpstr>Montserrat-SemiBold</vt:lpstr>
      <vt:lpstr>Times New Roman</vt:lpstr>
      <vt:lpstr>Webdings</vt:lpstr>
      <vt:lpstr>Wingdings</vt:lpstr>
      <vt:lpstr>AceInfo Office Theme</vt:lpstr>
      <vt:lpstr>DevSecOps and PaaS Solutions  </vt:lpstr>
      <vt:lpstr>devsecops orchestration continuous Integration &amp; Continuous Delivery (CI/CD)</vt:lpstr>
      <vt:lpstr>Platform as a service (pAAS) CONTAINERIZE APPICAITON BUILDs AND SOFTWARE LIBRARIES</vt:lpstr>
      <vt:lpstr>Platform as a service (pAAS) Kubernetes based container orchestration</vt:lpstr>
      <vt:lpstr>PowerPoint Presentation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Dane Rosendahl</dc:creator>
  <cp:lastModifiedBy>Vinay</cp:lastModifiedBy>
  <cp:revision>218</cp:revision>
  <cp:lastPrinted>2020-03-04T16:12:31Z</cp:lastPrinted>
  <dcterms:created xsi:type="dcterms:W3CDTF">2019-07-16T14:01:02Z</dcterms:created>
  <dcterms:modified xsi:type="dcterms:W3CDTF">2020-03-05T15:37:42Z</dcterms:modified>
</cp:coreProperties>
</file>