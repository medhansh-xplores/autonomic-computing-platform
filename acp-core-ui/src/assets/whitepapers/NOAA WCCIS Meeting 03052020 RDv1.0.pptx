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3" r:id="rId1"/>
  </p:sldMasterIdLst>
  <p:sldIdLst>
    <p:sldId id="312" r:id="rId2"/>
    <p:sldId id="532" r:id="rId3"/>
    <p:sldId id="536" r:id="rId4"/>
    <p:sldId id="533" r:id="rId5"/>
    <p:sldId id="531" r:id="rId6"/>
    <p:sldId id="534" r:id="rId7"/>
    <p:sldId id="537" r:id="rId8"/>
    <p:sldId id="53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1"/>
    <a:srgbClr val="F08422"/>
    <a:srgbClr val="000000"/>
    <a:srgbClr val="0E4BA3"/>
    <a:srgbClr val="0A3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80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511" y="82"/>
      </p:cViewPr>
      <p:guideLst>
        <p:guide orient="horz" pos="40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9A8174-0301-4D5D-8578-3C04C54D5C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700" y="1782017"/>
            <a:ext cx="7417273" cy="1727946"/>
          </a:xfrm>
        </p:spPr>
        <p:txBody>
          <a:bodyPr anchor="b">
            <a:noAutofit/>
          </a:bodyPr>
          <a:lstStyle>
            <a:lvl1pPr>
              <a:defRPr lang="en-US" sz="3938" b="0" cap="all" spc="169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700" y="3602038"/>
            <a:ext cx="7417273" cy="697769"/>
          </a:xfrm>
        </p:spPr>
        <p:txBody>
          <a:bodyPr>
            <a:noAutofit/>
          </a:bodyPr>
          <a:lstStyle>
            <a:lvl1pPr marL="0" indent="0">
              <a:buNone/>
              <a:defRPr lang="en-US" sz="1400" b="0" i="1" cap="none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Georgia" charset="0"/>
                <a:cs typeface="Times New Roman" panose="02020603050405020304" pitchFamily="18" charset="0"/>
              </a:defRPr>
            </a:lvl1pPr>
          </a:lstStyle>
          <a:p>
            <a:pPr marL="228600" lvl="0" indent="-228600"/>
            <a:r>
              <a:rPr lang="en-US" dirty="0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320C3-50C2-4F0F-85E8-13B79CCCF11F}"/>
              </a:ext>
            </a:extLst>
          </p:cNvPr>
          <p:cNvSpPr/>
          <p:nvPr userDrawn="1"/>
        </p:nvSpPr>
        <p:spPr>
          <a:xfrm>
            <a:off x="9249341" y="6317715"/>
            <a:ext cx="1123064" cy="230832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chemeClr val="bg1"/>
                </a:solidFill>
                <a:cs typeface="Insignia LT"/>
              </a:rPr>
              <a:t>aceinfosolutions.com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9C829-F43B-4747-B3FF-95D3587ECBD1}"/>
              </a:ext>
            </a:extLst>
          </p:cNvPr>
          <p:cNvSpPr/>
          <p:nvPr userDrawn="1"/>
        </p:nvSpPr>
        <p:spPr>
          <a:xfrm>
            <a:off x="9249342" y="6480136"/>
            <a:ext cx="2381421" cy="200055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Copyright © 2019 | Ace Info Solutions, LLC. All rights reserved.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C6D75-3020-4525-B875-D664F0D9B9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00" y="614926"/>
            <a:ext cx="1725280" cy="68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9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F8830-4770-4804-B6A2-E8B49CE900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59F15C-D511-4336-811A-2787FC2C9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700" y="1782017"/>
            <a:ext cx="7417273" cy="1727946"/>
          </a:xfrm>
        </p:spPr>
        <p:txBody>
          <a:bodyPr anchor="b">
            <a:noAutofit/>
          </a:bodyPr>
          <a:lstStyle>
            <a:lvl1pPr>
              <a:defRPr lang="en-US" sz="3938" b="0" cap="all" spc="169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700" y="3602038"/>
            <a:ext cx="7417273" cy="697769"/>
          </a:xfrm>
        </p:spPr>
        <p:txBody>
          <a:bodyPr>
            <a:noAutofit/>
          </a:bodyPr>
          <a:lstStyle>
            <a:lvl1pPr marL="0" indent="0">
              <a:buNone/>
              <a:defRPr lang="en-US" sz="1400" b="0" i="1" cap="none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Georgia" charset="0"/>
                <a:cs typeface="Times New Roman" panose="02020603050405020304" pitchFamily="18" charset="0"/>
              </a:defRPr>
            </a:lvl1pPr>
          </a:lstStyle>
          <a:p>
            <a:pPr marL="228600" lvl="0" indent="-228600"/>
            <a:r>
              <a:rPr lang="en-US" dirty="0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6B7FD7-3E90-4537-B735-FE53FE2846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00" y="614926"/>
            <a:ext cx="1725280" cy="6870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D7FB0F3-C68F-4552-BD8D-CFEC2F4583B3}"/>
              </a:ext>
            </a:extLst>
          </p:cNvPr>
          <p:cNvSpPr/>
          <p:nvPr userDrawn="1"/>
        </p:nvSpPr>
        <p:spPr>
          <a:xfrm>
            <a:off x="9249341" y="6317715"/>
            <a:ext cx="1123064" cy="230832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chemeClr val="bg1"/>
                </a:solidFill>
                <a:cs typeface="Insignia LT"/>
              </a:rPr>
              <a:t>aceinfosolutions.com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BE4675-1953-4568-B9AA-BAD37239281C}"/>
              </a:ext>
            </a:extLst>
          </p:cNvPr>
          <p:cNvSpPr/>
          <p:nvPr userDrawn="1"/>
        </p:nvSpPr>
        <p:spPr>
          <a:xfrm>
            <a:off x="9249342" y="6480136"/>
            <a:ext cx="2381421" cy="200055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Copyright © 2019 | Ace Info Solutions,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270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709740"/>
            <a:ext cx="10666967" cy="171926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590925"/>
            <a:ext cx="10666967" cy="1363664"/>
          </a:xfrm>
        </p:spPr>
        <p:txBody>
          <a:bodyPr/>
          <a:lstStyle>
            <a:lvl1pPr marL="0" indent="0">
              <a:buNone/>
              <a:defRPr sz="1050" b="0" i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63DE5-7DD4-4289-8610-22DD4442B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B3D37E-9BCB-416B-A192-E492E7416858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B5F2C-70D6-4DB1-B148-F84B14FDC23D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6D7E5F-68F8-406B-9EDE-B60D361048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46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F93DF3-2AA1-4E23-9817-4446C7CE8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588" y="1322505"/>
            <a:ext cx="11088687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55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F93DF3-2AA1-4E23-9817-4446C7CE8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589" y="1322505"/>
            <a:ext cx="4819450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0BDE5EA-083D-4EF6-8459-8ED3CF796B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4373" y="1322505"/>
            <a:ext cx="4819450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05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5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02F3F1-D01E-44E4-AEBC-22DAE6F2F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E1C866-6D0E-4CA6-BA38-C841523932A6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C5721-F7A3-4211-B73E-39D56568A092}"/>
              </a:ext>
            </a:extLst>
          </p:cNvPr>
          <p:cNvSpPr/>
          <p:nvPr userDrawn="1"/>
        </p:nvSpPr>
        <p:spPr>
          <a:xfrm>
            <a:off x="11488475" y="6494931"/>
            <a:ext cx="386324" cy="200055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r"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PAGE | </a:t>
            </a:r>
            <a:fld id="{EB71832E-C7FA-488C-9625-830D2B13F22F}" type="slidenum">
              <a:rPr lang="en-US" sz="700" b="1" smtClean="0">
                <a:solidFill>
                  <a:schemeClr val="bg1"/>
                </a:solidFill>
                <a:cs typeface="Insignia LT"/>
              </a:rPr>
              <a:t>‹#›</a:t>
            </a:fld>
            <a:endParaRPr lang="en-US" sz="700" b="1" dirty="0">
              <a:solidFill>
                <a:schemeClr val="bg1"/>
              </a:solidFill>
              <a:cs typeface="Insignia 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FBC68-1233-4F6D-AFE0-B98DC6A2367D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021B45-7829-4F13-ACF3-E5FF284E4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26" b="1" i="0">
                <a:solidFill>
                  <a:srgbClr val="002D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92" b="0" i="0">
                <a:solidFill>
                  <a:srgbClr val="231F20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76" b="1" i="0">
                <a:solidFill>
                  <a:srgbClr val="2E78BD"/>
                </a:solidFill>
                <a:latin typeface="Montserrat SemiBold"/>
                <a:cs typeface="Montserrat SemiBold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pc="-24" dirty="0"/>
              <a:t>Dovel</a:t>
            </a:r>
            <a:r>
              <a:rPr lang="en-US" spc="-52" dirty="0"/>
              <a:t> </a:t>
            </a:r>
            <a:r>
              <a:rPr lang="en-US" spc="-21" dirty="0"/>
              <a:t>Technologies,</a:t>
            </a:r>
            <a:r>
              <a:rPr lang="en-US" spc="-49" dirty="0"/>
              <a:t> </a:t>
            </a:r>
            <a:r>
              <a:rPr lang="en-US" spc="-30" dirty="0"/>
              <a:t>LLC</a:t>
            </a:r>
            <a:r>
              <a:rPr lang="en-US" spc="-52" dirty="0"/>
              <a:t> </a:t>
            </a:r>
            <a:r>
              <a:rPr lang="en-US" spc="-3" dirty="0"/>
              <a:t>-</a:t>
            </a:r>
            <a:r>
              <a:rPr lang="en-US" spc="-49" dirty="0"/>
              <a:t> </a:t>
            </a:r>
            <a:r>
              <a:rPr lang="en-US" spc="-15" dirty="0"/>
              <a:t>Proprietary</a:t>
            </a:r>
            <a:r>
              <a:rPr lang="en-US" spc="-52" dirty="0"/>
              <a:t> </a:t>
            </a:r>
            <a:r>
              <a:rPr lang="en-US" spc="-9" dirty="0"/>
              <a:t>and</a:t>
            </a:r>
            <a:r>
              <a:rPr lang="en-US" spc="-49" dirty="0"/>
              <a:t> </a:t>
            </a:r>
            <a:r>
              <a:rPr lang="en-US" spc="-1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2/25/2020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1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23104">
              <a:spcBef>
                <a:spcPts val="197"/>
              </a:spcBef>
            </a:pPr>
            <a:fld id="{81D60167-4931-47E6-BA6A-407CBD079E47}" type="slidenum">
              <a:rPr lang="en-US" spc="-3" smtClean="0"/>
              <a:pPr marL="23104">
                <a:spcBef>
                  <a:spcPts val="197"/>
                </a:spcBef>
              </a:pPr>
              <a:t>‹#›</a:t>
            </a:fld>
            <a:endParaRPr lang="en-US" spc="-3" dirty="0"/>
          </a:p>
        </p:txBody>
      </p:sp>
    </p:spTree>
    <p:extLst>
      <p:ext uri="{BB962C8B-B14F-4D97-AF65-F5344CB8AC3E}">
        <p14:creationId xmlns:p14="http://schemas.microsoft.com/office/powerpoint/2010/main" val="329999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607700A-4454-40A2-9322-AEE558881F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363" y="385431"/>
            <a:ext cx="10143460" cy="76276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363" y="1323353"/>
            <a:ext cx="10717618" cy="4853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dirty="0"/>
              <a:t>Click to edit Master text styles</a:t>
            </a:r>
          </a:p>
          <a:p>
            <a:pPr marL="171450" lvl="1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457200" lvl="2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</a:pPr>
            <a:r>
              <a:rPr lang="en-US" dirty="0"/>
              <a:t>Third level</a:t>
            </a:r>
          </a:p>
          <a:p>
            <a:pPr marL="0" lvl="3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/>
              <a:t>Fourth level</a:t>
            </a:r>
          </a:p>
          <a:p>
            <a:pPr marL="0" lvl="4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A5688-7A92-4395-91BC-0D040E8A3608}"/>
              </a:ext>
            </a:extLst>
          </p:cNvPr>
          <p:cNvSpPr/>
          <p:nvPr userDrawn="1"/>
        </p:nvSpPr>
        <p:spPr>
          <a:xfrm>
            <a:off x="11488475" y="6494931"/>
            <a:ext cx="386324" cy="200055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r"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PAGE | </a:t>
            </a:r>
            <a:fld id="{EB71832E-C7FA-488C-9625-830D2B13F22F}" type="slidenum">
              <a:rPr lang="en-US" sz="700" b="1" smtClean="0">
                <a:solidFill>
                  <a:schemeClr val="bg1"/>
                </a:solidFill>
                <a:cs typeface="Insignia LT"/>
              </a:rPr>
              <a:t>‹#›</a:t>
            </a:fld>
            <a:endParaRPr lang="en-US" sz="700" b="1" dirty="0">
              <a:solidFill>
                <a:schemeClr val="bg1"/>
              </a:solidFill>
              <a:cs typeface="Insignia 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CCFE8E-A873-459B-963F-D1D8283A308C}"/>
              </a:ext>
            </a:extLst>
          </p:cNvPr>
          <p:cNvCxnSpPr>
            <a:cxnSpLocks/>
          </p:cNvCxnSpPr>
          <p:nvPr userDrawn="1"/>
        </p:nvCxnSpPr>
        <p:spPr>
          <a:xfrm>
            <a:off x="510363" y="1190360"/>
            <a:ext cx="11040556" cy="0"/>
          </a:xfrm>
          <a:prstGeom prst="line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DFB1848-85BF-4208-84BC-70CC91F69920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8CD89-348D-44CF-9035-8BE177CACE91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076B8E-ADA9-4CA2-907E-626526FF5E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9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kern="1200" cap="all" spc="140" baseline="0">
          <a:solidFill>
            <a:srgbClr val="002D71"/>
          </a:solidFill>
          <a:latin typeface="+mn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1600" b="1" i="0" kern="1200" cap="none" spc="0" baseline="0" dirty="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-"/>
        <a:defRPr lang="en-US" sz="1600" kern="1200" dirty="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cap="all" spc="140" baseline="0" dirty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i="1" kern="1200" dirty="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890319-8FAE-48AB-AA4F-902FA7B3A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IDSB and SDB Meetings with AceInfo/</a:t>
            </a:r>
            <a:r>
              <a:rPr lang="en-US" dirty="0" err="1"/>
              <a:t>Dovel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2846A8-9214-46E6-9591-A2B8A0DBC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37" y="4227680"/>
            <a:ext cx="7417273" cy="697769"/>
          </a:xfrm>
        </p:spPr>
        <p:txBody>
          <a:bodyPr/>
          <a:lstStyle/>
          <a:p>
            <a:r>
              <a:rPr lang="en-US" dirty="0"/>
              <a:t>March 2020</a:t>
            </a:r>
          </a:p>
        </p:txBody>
      </p:sp>
    </p:spTree>
    <p:extLst>
      <p:ext uri="{BB962C8B-B14F-4D97-AF65-F5344CB8AC3E}">
        <p14:creationId xmlns:p14="http://schemas.microsoft.com/office/powerpoint/2010/main" val="89817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773A-12F3-40BA-A63E-B0061955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digital Modernization and systems integration</a:t>
            </a:r>
            <a:br>
              <a:rPr lang="en-US" dirty="0"/>
            </a:br>
            <a:r>
              <a:rPr lang="en-US" sz="2000" b="0" dirty="0"/>
              <a:t>cloud native applications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79F60-D636-4909-A41A-19C468B7F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6" y="1548705"/>
            <a:ext cx="9099913" cy="460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0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773A-12F3-40BA-A63E-B0061955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digital Modernization and systems integration</a:t>
            </a:r>
            <a:br>
              <a:rPr lang="en-US" dirty="0"/>
            </a:br>
            <a:r>
              <a:rPr lang="en-US" sz="2000" b="0" dirty="0"/>
              <a:t>continuous Integration &amp; Continuous Delivery/Deployments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FC259-9CFA-493A-9CD0-EB827EBF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3" y="1468260"/>
            <a:ext cx="11257753" cy="347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7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177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3736" y="411421"/>
            <a:ext cx="10187653" cy="690805"/>
          </a:xfrm>
          <a:prstGeom prst="rect">
            <a:avLst/>
          </a:prstGeom>
        </p:spPr>
        <p:txBody>
          <a:bodyPr vert="horz" wrap="square" lIns="0" tIns="9627" rIns="0" bIns="0" rtlCol="0" anchor="b" anchorCtr="0">
            <a:spAutoFit/>
          </a:bodyPr>
          <a:lstStyle/>
          <a:p>
            <a:pPr marL="7701">
              <a:lnSpc>
                <a:spcPct val="100000"/>
              </a:lnSpc>
              <a:spcBef>
                <a:spcPts val="76"/>
              </a:spcBef>
            </a:pPr>
            <a:r>
              <a:rPr lang="en-US" dirty="0"/>
              <a:t>Enterprise digital Modernization and systems integration</a:t>
            </a:r>
            <a:br>
              <a:rPr lang="en-US" dirty="0"/>
            </a:br>
            <a:r>
              <a:rPr lang="en-US" sz="2000" b="0" spc="24" dirty="0"/>
              <a:t>Container based </a:t>
            </a:r>
            <a:r>
              <a:rPr sz="2000" b="0" spc="24" dirty="0"/>
              <a:t>INTELLIGENT</a:t>
            </a:r>
            <a:r>
              <a:rPr sz="2000" b="0" spc="-42" dirty="0"/>
              <a:t> </a:t>
            </a:r>
            <a:r>
              <a:rPr sz="2000" b="0" spc="3" dirty="0"/>
              <a:t>PLATFORMS</a:t>
            </a:r>
            <a:r>
              <a:rPr sz="2000" b="0" spc="-42" dirty="0"/>
              <a:t> </a:t>
            </a:r>
            <a:r>
              <a:rPr sz="2000" b="0" spc="21" dirty="0"/>
              <a:t>AND</a:t>
            </a:r>
            <a:r>
              <a:rPr sz="2000" b="0" spc="-42" dirty="0"/>
              <a:t> </a:t>
            </a:r>
            <a:r>
              <a:rPr sz="2000" b="0" spc="24" dirty="0"/>
              <a:t>TURNKEY</a:t>
            </a:r>
            <a:r>
              <a:rPr sz="2000" b="0" spc="-49" dirty="0"/>
              <a:t> </a:t>
            </a:r>
            <a:r>
              <a:rPr sz="2000" b="0" spc="18" dirty="0"/>
              <a:t>SOLUTIONS</a:t>
            </a:r>
            <a:r>
              <a:rPr sz="2000" b="0" spc="-42" dirty="0"/>
              <a:t> </a:t>
            </a:r>
            <a:r>
              <a:rPr sz="2000" b="0" spc="18" dirty="0"/>
              <a:t>AS</a:t>
            </a:r>
            <a:r>
              <a:rPr sz="2000" b="0" spc="-42" dirty="0"/>
              <a:t> </a:t>
            </a:r>
            <a:r>
              <a:rPr sz="2000" b="0" spc="9" dirty="0"/>
              <a:t>A</a:t>
            </a:r>
            <a:r>
              <a:rPr sz="2000" b="0" spc="-42" dirty="0"/>
              <a:t> </a:t>
            </a:r>
            <a:r>
              <a:rPr sz="2000" b="0" spc="21" dirty="0"/>
              <a:t>SERVICE</a:t>
            </a:r>
            <a:endParaRPr sz="1800" b="0" spc="21" dirty="0"/>
          </a:p>
        </p:txBody>
      </p:sp>
      <p:sp>
        <p:nvSpPr>
          <p:cNvPr id="5" name="object 5"/>
          <p:cNvSpPr txBox="1"/>
          <p:nvPr/>
        </p:nvSpPr>
        <p:spPr>
          <a:xfrm>
            <a:off x="627682" y="1528918"/>
            <a:ext cx="2553579" cy="4067618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245286" indent="-237970">
              <a:spcBef>
                <a:spcPts val="70"/>
              </a:spcBef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sz="1546" spc="-85" dirty="0">
                <a:solidFill>
                  <a:srgbClr val="231F20"/>
                </a:solidFill>
                <a:latin typeface="Montserrat Light"/>
                <a:cs typeface="Montserrat Light"/>
              </a:rPr>
              <a:t>Turnkey</a:t>
            </a:r>
            <a:r>
              <a:rPr sz="1546" spc="-82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sz="1546" spc="-55" dirty="0">
                <a:solidFill>
                  <a:srgbClr val="231F20"/>
                </a:solidFill>
                <a:latin typeface="Montserrat Light"/>
                <a:cs typeface="Montserrat Light"/>
              </a:rPr>
              <a:t>Solutions</a:t>
            </a:r>
            <a:endParaRPr sz="1546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979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Cloud</a:t>
            </a:r>
            <a:r>
              <a:rPr sz="1152" spc="12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Adoption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8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3" dirty="0">
                <a:solidFill>
                  <a:srgbClr val="231F20"/>
                </a:solidFill>
                <a:latin typeface="Montserrat Light"/>
                <a:cs typeface="Montserrat Light"/>
              </a:rPr>
              <a:t>Immutability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Secruity </a:t>
            </a:r>
            <a:r>
              <a:rPr sz="1152" dirty="0">
                <a:solidFill>
                  <a:srgbClr val="231F20"/>
                </a:solidFill>
                <a:latin typeface="Montserrat Light"/>
                <a:cs typeface="Montserrat Light"/>
              </a:rPr>
              <a:t>/</a:t>
            </a:r>
            <a:r>
              <a:rPr sz="1152" spc="42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sz="1152" spc="-42" dirty="0">
                <a:solidFill>
                  <a:srgbClr val="231F20"/>
                </a:solidFill>
                <a:latin typeface="Montserrat Light"/>
                <a:cs typeface="Montserrat Light"/>
              </a:rPr>
              <a:t>ATO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dirty="0">
                <a:solidFill>
                  <a:srgbClr val="231F20"/>
                </a:solidFill>
                <a:latin typeface="Montserrat Light"/>
                <a:cs typeface="Montserrat Light"/>
              </a:rPr>
              <a:t>Scale and</a:t>
            </a:r>
            <a:r>
              <a:rPr sz="1152" spc="30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sz="1152" spc="-12" dirty="0">
                <a:solidFill>
                  <a:srgbClr val="231F20"/>
                </a:solidFill>
                <a:latin typeface="Montserrat Light"/>
                <a:cs typeface="Montserrat Light"/>
              </a:rPr>
              <a:t>Failure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12" dirty="0">
                <a:solidFill>
                  <a:srgbClr val="231F20"/>
                </a:solidFill>
                <a:latin typeface="Montserrat Light"/>
                <a:cs typeface="Montserrat Light"/>
              </a:rPr>
              <a:t>AIOPs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9" dirty="0">
                <a:solidFill>
                  <a:srgbClr val="231F20"/>
                </a:solidFill>
                <a:latin typeface="Montserrat Light"/>
                <a:cs typeface="Montserrat Light"/>
              </a:rPr>
              <a:t>Self-Configure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8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Self-Heal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Self-Optimize</a:t>
            </a:r>
            <a:endParaRPr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Self-Protect</a:t>
            </a:r>
            <a:endParaRPr sz="1152" dirty="0">
              <a:latin typeface="Montserrat Light"/>
              <a:cs typeface="Montserrat Light"/>
            </a:endParaRPr>
          </a:p>
          <a:p>
            <a:pPr lvl="1">
              <a:spcBef>
                <a:spcPts val="18"/>
              </a:spcBef>
              <a:buClr>
                <a:srgbClr val="54B747"/>
              </a:buClr>
              <a:buFont typeface="Webdings"/>
              <a:buChar char="■"/>
            </a:pPr>
            <a:endParaRPr sz="1668" dirty="0">
              <a:latin typeface="Montserrat Light"/>
              <a:cs typeface="Montserrat Light"/>
            </a:endParaRPr>
          </a:p>
          <a:p>
            <a:pPr marL="245286" indent="-237970"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sz="1546" spc="-85" dirty="0">
                <a:solidFill>
                  <a:srgbClr val="231F20"/>
                </a:solidFill>
                <a:latin typeface="Montserrat Light"/>
                <a:cs typeface="Montserrat Light"/>
              </a:rPr>
              <a:t>Turnkey</a:t>
            </a:r>
            <a:r>
              <a:rPr sz="1546" spc="-94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sz="1546" spc="-67" dirty="0">
                <a:solidFill>
                  <a:srgbClr val="231F20"/>
                </a:solidFill>
                <a:latin typeface="Montserrat Light"/>
                <a:cs typeface="Montserrat Light"/>
              </a:rPr>
              <a:t>Platforms</a:t>
            </a:r>
            <a:r>
              <a:rPr lang="en-US" sz="1152" dirty="0">
                <a:latin typeface="Montserrat Light" panose="00000400000000000000" pitchFamily="50" charset="0"/>
              </a:rPr>
              <a:t>ernetes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Openshift</a:t>
            </a:r>
            <a:endParaRPr lang="en-US" sz="1152" spc="-6" dirty="0">
              <a:solidFill>
                <a:srgbClr val="231F20"/>
              </a:solidFill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Redhat </a:t>
            </a:r>
            <a:r>
              <a:rPr lang="en-US"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Openshift 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Google </a:t>
            </a:r>
            <a:r>
              <a:rPr lang="en-US"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Cloud </a:t>
            </a:r>
            <a:r>
              <a:rPr lang="en-US" sz="1152" spc="6" dirty="0">
                <a:solidFill>
                  <a:srgbClr val="231F20"/>
                </a:solidFill>
                <a:latin typeface="Montserrat Light"/>
                <a:cs typeface="Montserrat Light"/>
              </a:rPr>
              <a:t>(GKE)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-33" dirty="0">
                <a:solidFill>
                  <a:srgbClr val="231F20"/>
                </a:solidFill>
                <a:latin typeface="Montserrat Light"/>
                <a:cs typeface="Montserrat Light"/>
              </a:rPr>
              <a:t>AWS </a:t>
            </a:r>
            <a:r>
              <a:rPr lang="en-US" sz="1152" spc="-6" dirty="0">
                <a:solidFill>
                  <a:srgbClr val="231F20"/>
                </a:solidFill>
                <a:latin typeface="Montserrat Light"/>
                <a:cs typeface="Montserrat Light"/>
              </a:rPr>
              <a:t>(ECS, </a:t>
            </a:r>
            <a:r>
              <a:rPr lang="en-US" sz="1152" dirty="0">
                <a:solidFill>
                  <a:srgbClr val="231F20"/>
                </a:solidFill>
                <a:latin typeface="Montserrat Light"/>
                <a:cs typeface="Montserrat Light"/>
              </a:rPr>
              <a:t>EKS) 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9" dirty="0">
                <a:solidFill>
                  <a:srgbClr val="231F20"/>
                </a:solidFill>
                <a:latin typeface="Montserrat Light"/>
                <a:cs typeface="Montserrat Light"/>
              </a:rPr>
              <a:t>AZURE </a:t>
            </a:r>
            <a:r>
              <a:rPr lang="en-US" sz="1152" spc="6" dirty="0">
                <a:solidFill>
                  <a:srgbClr val="231F20"/>
                </a:solidFill>
                <a:latin typeface="Montserrat Light"/>
                <a:cs typeface="Montserrat Light"/>
              </a:rPr>
              <a:t>(CS,</a:t>
            </a:r>
            <a:r>
              <a:rPr lang="en-US" sz="1152" spc="-15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lang="en-US" sz="1152" spc="6" dirty="0">
                <a:solidFill>
                  <a:srgbClr val="231F20"/>
                </a:solidFill>
                <a:latin typeface="Montserrat Light"/>
                <a:cs typeface="Montserrat Light"/>
              </a:rPr>
              <a:t>KS)</a:t>
            </a:r>
            <a:endParaRPr lang="en-US" sz="1152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Font typeface="Webdings"/>
              <a:buChar char="■"/>
              <a:tabLst>
                <a:tab pos="495962" algn="l"/>
                <a:tab pos="496347" algn="l"/>
              </a:tabLst>
            </a:pPr>
            <a:endParaRPr sz="1152" dirty="0">
              <a:latin typeface="Montserrat Light"/>
              <a:cs typeface="Montserrat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36868" y="1512889"/>
            <a:ext cx="7987859" cy="4712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 dirty="0"/>
          </a:p>
        </p:txBody>
      </p:sp>
    </p:spTree>
    <p:extLst>
      <p:ext uri="{BB962C8B-B14F-4D97-AF65-F5344CB8AC3E}">
        <p14:creationId xmlns:p14="http://schemas.microsoft.com/office/powerpoint/2010/main" val="35401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644170-4904-4880-92AA-8A6FCD1A2D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95268" y="1247274"/>
            <a:ext cx="7132321" cy="509106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adoption and Infrastructure Optimization</a:t>
            </a:r>
            <a:br>
              <a:rPr lang="en-US" dirty="0"/>
            </a:br>
            <a:r>
              <a:rPr lang="en-US" sz="2000" b="0" dirty="0"/>
              <a:t>Accelerate hybrid-cloud deployments while maximizing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10364" y="1251285"/>
            <a:ext cx="3857100" cy="514401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dirty="0"/>
              <a:t>Data Center Consolidation and IT Optimization through Private, Hybrid and Multi-Cloud implementations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0" dirty="0"/>
              <a:t>An Accelerator Framework for cloud adoption, comprising repeatable processes, architecture blueprints, turnkey services and landing zones with disaster recovery and failover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dirty="0"/>
              <a:t>Single pane of glass for cloud administration, governance, billing and operational intelligence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dirty="0"/>
              <a:t>Infrastructure and Security as Code along with automated Security and Compliance (Authority To Operate)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dirty="0"/>
              <a:t>Intelligent automation and orchestration with self-healing capabilities (DevSecOps / AIOps)</a:t>
            </a:r>
          </a:p>
        </p:txBody>
      </p:sp>
    </p:spTree>
    <p:extLst>
      <p:ext uri="{BB962C8B-B14F-4D97-AF65-F5344CB8AC3E}">
        <p14:creationId xmlns:p14="http://schemas.microsoft.com/office/powerpoint/2010/main" val="241154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adoption and Infrastructure Optimization</a:t>
            </a:r>
            <a:br>
              <a:rPr lang="en-US" dirty="0"/>
            </a:br>
            <a:r>
              <a:rPr lang="en-US" sz="2000" b="0" dirty="0"/>
              <a:t>Disaster recovery in AWS Cloud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8AE0BD6-004E-45E7-8F9A-D8EE35C27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141" y="1395869"/>
            <a:ext cx="8291978" cy="4593678"/>
          </a:xfrm>
          <a:prstGeom prst="rect">
            <a:avLst/>
          </a:prstGeom>
        </p:spPr>
      </p:pic>
      <p:sp>
        <p:nvSpPr>
          <p:cNvPr id="45" name="object 5">
            <a:extLst>
              <a:ext uri="{FF2B5EF4-FFF2-40B4-BE49-F238E27FC236}">
                <a16:creationId xmlns:a16="http://schemas.microsoft.com/office/drawing/2014/main" id="{E73D9E9D-F2B9-42FF-9537-2A57B041C3F8}"/>
              </a:ext>
            </a:extLst>
          </p:cNvPr>
          <p:cNvSpPr txBox="1"/>
          <p:nvPr/>
        </p:nvSpPr>
        <p:spPr>
          <a:xfrm>
            <a:off x="627682" y="1528918"/>
            <a:ext cx="2672664" cy="1774682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245286" indent="-237970">
              <a:spcBef>
                <a:spcPts val="70"/>
              </a:spcBef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546" spc="-85" dirty="0">
                <a:solidFill>
                  <a:srgbClr val="231F20"/>
                </a:solidFill>
                <a:latin typeface="Montserrat Light"/>
                <a:cs typeface="Montserrat Light"/>
              </a:rPr>
              <a:t>AWS Global Infrastructure</a:t>
            </a:r>
            <a:endParaRPr sz="1546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979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2 US GovCloud Regions  (US East and West) with  6 Availability Zones</a:t>
            </a:r>
          </a:p>
          <a:p>
            <a:pPr marL="495962" lvl="1" indent="-255297">
              <a:spcBef>
                <a:spcPts val="979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152" spc="3" dirty="0">
                <a:solidFill>
                  <a:srgbClr val="231F20"/>
                </a:solidFill>
                <a:latin typeface="Montserrat Light"/>
                <a:cs typeface="Montserrat Light"/>
              </a:rPr>
              <a:t>21 Geographic Regions with  66 Availability Zones</a:t>
            </a:r>
          </a:p>
          <a:p>
            <a:pPr marL="240665" lvl="1">
              <a:spcBef>
                <a:spcPts val="979"/>
              </a:spcBef>
              <a:buClr>
                <a:srgbClr val="54B747"/>
              </a:buClr>
              <a:buSzPct val="150000"/>
              <a:tabLst>
                <a:tab pos="495962" algn="l"/>
                <a:tab pos="496347" algn="l"/>
              </a:tabLst>
            </a:pPr>
            <a:endParaRPr sz="1668" dirty="0">
              <a:latin typeface="Montserrat Light"/>
              <a:cs typeface="Montserrat Light"/>
            </a:endParaRPr>
          </a:p>
        </p:txBody>
      </p:sp>
      <p:sp>
        <p:nvSpPr>
          <p:cNvPr id="46" name="object 36">
            <a:extLst>
              <a:ext uri="{FF2B5EF4-FFF2-40B4-BE49-F238E27FC236}">
                <a16:creationId xmlns:a16="http://schemas.microsoft.com/office/drawing/2014/main" id="{B4F2E142-9627-49A5-AE83-CC90F00D8770}"/>
              </a:ext>
            </a:extLst>
          </p:cNvPr>
          <p:cNvSpPr txBox="1"/>
          <p:nvPr/>
        </p:nvSpPr>
        <p:spPr>
          <a:xfrm>
            <a:off x="641282" y="4261765"/>
            <a:ext cx="2722859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90" dirty="0">
                <a:solidFill>
                  <a:srgbClr val="083E5E"/>
                </a:solidFill>
                <a:latin typeface="Arial Unicode MS"/>
                <a:cs typeface="Arial Unicode MS"/>
              </a:rPr>
              <a:t>Infrastructure </a:t>
            </a:r>
            <a:r>
              <a:rPr sz="1600" spc="50" dirty="0">
                <a:solidFill>
                  <a:srgbClr val="083E5E"/>
                </a:solidFill>
                <a:latin typeface="Arial Unicode MS"/>
                <a:cs typeface="Arial Unicode MS"/>
              </a:rPr>
              <a:t>as</a:t>
            </a:r>
            <a:r>
              <a:rPr sz="1600" spc="-280" dirty="0">
                <a:solidFill>
                  <a:srgbClr val="083E5E"/>
                </a:solidFill>
                <a:latin typeface="Arial Unicode MS"/>
                <a:cs typeface="Arial Unicode MS"/>
              </a:rPr>
              <a:t> </a:t>
            </a:r>
            <a:r>
              <a:rPr sz="1600" spc="155" dirty="0">
                <a:solidFill>
                  <a:srgbClr val="083E5E"/>
                </a:solidFill>
                <a:latin typeface="Arial Unicode MS"/>
                <a:cs typeface="Arial Unicode MS"/>
              </a:rPr>
              <a:t>Code</a:t>
            </a:r>
            <a:endParaRPr sz="1600" dirty="0">
              <a:latin typeface="Arial Unicode MS"/>
              <a:cs typeface="Arial Unicode MS"/>
            </a:endParaRPr>
          </a:p>
          <a:p>
            <a:pPr marL="12700" marR="273050">
              <a:lnSpc>
                <a:spcPct val="167300"/>
              </a:lnSpc>
            </a:pPr>
            <a:r>
              <a:rPr sz="1600" spc="155" dirty="0">
                <a:solidFill>
                  <a:srgbClr val="083E5E"/>
                </a:solidFill>
                <a:latin typeface="Arial Unicode MS"/>
                <a:cs typeface="Arial Unicode MS"/>
              </a:rPr>
              <a:t>Security </a:t>
            </a:r>
            <a:r>
              <a:rPr sz="1600" spc="50" dirty="0">
                <a:solidFill>
                  <a:srgbClr val="083E5E"/>
                </a:solidFill>
                <a:latin typeface="Arial Unicode MS"/>
                <a:cs typeface="Arial Unicode MS"/>
              </a:rPr>
              <a:t>as </a:t>
            </a:r>
            <a:r>
              <a:rPr sz="1600" spc="155" dirty="0">
                <a:solidFill>
                  <a:srgbClr val="083E5E"/>
                </a:solidFill>
                <a:latin typeface="Arial Unicode MS"/>
                <a:cs typeface="Arial Unicode MS"/>
              </a:rPr>
              <a:t>Code  </a:t>
            </a:r>
            <a:r>
              <a:rPr sz="1600" spc="245" dirty="0">
                <a:solidFill>
                  <a:srgbClr val="083E5E"/>
                </a:solidFill>
                <a:latin typeface="Arial Unicode MS"/>
                <a:cs typeface="Arial Unicode MS"/>
              </a:rPr>
              <a:t>Automation </a:t>
            </a:r>
            <a:r>
              <a:rPr sz="1600" spc="50" dirty="0">
                <a:solidFill>
                  <a:srgbClr val="083E5E"/>
                </a:solidFill>
                <a:latin typeface="Arial Unicode MS"/>
                <a:cs typeface="Arial Unicode MS"/>
              </a:rPr>
              <a:t>as</a:t>
            </a:r>
            <a:r>
              <a:rPr sz="1600" spc="-325" dirty="0">
                <a:solidFill>
                  <a:srgbClr val="083E5E"/>
                </a:solidFill>
                <a:latin typeface="Arial Unicode MS"/>
                <a:cs typeface="Arial Unicode MS"/>
              </a:rPr>
              <a:t> </a:t>
            </a:r>
            <a:r>
              <a:rPr sz="1600" spc="155" dirty="0">
                <a:solidFill>
                  <a:srgbClr val="083E5E"/>
                </a:solidFill>
                <a:latin typeface="Arial Unicode MS"/>
                <a:cs typeface="Arial Unicode MS"/>
              </a:rPr>
              <a:t>Code</a:t>
            </a:r>
            <a:endParaRPr sz="1600" dirty="0">
              <a:latin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2585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adoption and Infrastructure Optimization</a:t>
            </a:r>
            <a:br>
              <a:rPr lang="en-US" dirty="0"/>
            </a:br>
            <a:r>
              <a:rPr lang="en-US" sz="2000" b="0" dirty="0"/>
              <a:t>Disaster recovery in AWS Cloud - Approaches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DA2AAB-3DB9-4986-9268-376C0866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55863"/>
            <a:ext cx="10975635" cy="50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3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10363" y="385431"/>
            <a:ext cx="10458184" cy="762766"/>
          </a:xfrm>
        </p:spPr>
        <p:txBody>
          <a:bodyPr/>
          <a:lstStyle/>
          <a:p>
            <a:r>
              <a:rPr lang="en-US" dirty="0"/>
              <a:t>Cloud adoption and Infrastructure Optimization</a:t>
            </a:r>
            <a:br>
              <a:rPr lang="en-US" dirty="0"/>
            </a:br>
            <a:r>
              <a:rPr lang="en-US" sz="2000" b="0" dirty="0"/>
              <a:t>Multi Region Failover &amp; High Availability (Kubernetes Based Orchestration)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2C966-83D9-4CF2-A6B8-71FCB8A04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92" y="1551501"/>
            <a:ext cx="11142921" cy="432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15787"/>
      </p:ext>
    </p:extLst>
  </p:cSld>
  <p:clrMapOvr>
    <a:masterClrMapping/>
  </p:clrMapOvr>
</p:sld>
</file>

<file path=ppt/theme/theme1.xml><?xml version="1.0" encoding="utf-8"?>
<a:theme xmlns:a="http://schemas.openxmlformats.org/drawingml/2006/main" name="AceInfo Office Theme">
  <a:themeElements>
    <a:clrScheme name="Dovel">
      <a:dk1>
        <a:srgbClr val="FFFFFF"/>
      </a:dk1>
      <a:lt1>
        <a:srgbClr val="FFFFFF"/>
      </a:lt1>
      <a:dk2>
        <a:srgbClr val="002D71"/>
      </a:dk2>
      <a:lt2>
        <a:srgbClr val="000000"/>
      </a:lt2>
      <a:accent1>
        <a:srgbClr val="0E4BA3"/>
      </a:accent1>
      <a:accent2>
        <a:srgbClr val="F08422"/>
      </a:accent2>
      <a:accent3>
        <a:srgbClr val="A5A5A5"/>
      </a:accent3>
      <a:accent4>
        <a:srgbClr val="000000"/>
      </a:accent4>
      <a:accent5>
        <a:srgbClr val="5B9BD5"/>
      </a:accent5>
      <a:accent6>
        <a:srgbClr val="4CB848"/>
      </a:accent6>
      <a:hlink>
        <a:srgbClr val="0E4BA3"/>
      </a:hlink>
      <a:folHlink>
        <a:srgbClr val="7F7F7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255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 Unicode MS</vt:lpstr>
      <vt:lpstr>Arial</vt:lpstr>
      <vt:lpstr>Calibri</vt:lpstr>
      <vt:lpstr>Courier New</vt:lpstr>
      <vt:lpstr>Montserrat</vt:lpstr>
      <vt:lpstr>Montserrat Light</vt:lpstr>
      <vt:lpstr>Montserrat SemiBold</vt:lpstr>
      <vt:lpstr>Times New Roman</vt:lpstr>
      <vt:lpstr>Webdings</vt:lpstr>
      <vt:lpstr>Wingdings</vt:lpstr>
      <vt:lpstr>AceInfo Office Theme</vt:lpstr>
      <vt:lpstr>IDSB and SDB Meetings with AceInfo/Dovel</vt:lpstr>
      <vt:lpstr>Enterprise digital Modernization and systems integration cloud native applications</vt:lpstr>
      <vt:lpstr>Enterprise digital Modernization and systems integration continuous Integration &amp; Continuous Delivery/Deployments</vt:lpstr>
      <vt:lpstr>Enterprise digital Modernization and systems integration Container based INTELLIGENT PLATFORMS AND TURNKEY SOLUTIONS AS A SERVICE</vt:lpstr>
      <vt:lpstr>Cloud adoption and Infrastructure Optimization Accelerate hybrid-cloud deployments while maximizing innovation</vt:lpstr>
      <vt:lpstr>Cloud adoption and Infrastructure Optimization Disaster recovery in AWS Cloud</vt:lpstr>
      <vt:lpstr>Cloud adoption and Infrastructure Optimization Disaster recovery in AWS Cloud - Approaches</vt:lpstr>
      <vt:lpstr>Cloud adoption and Infrastructure Optimization Multi Region Failover &amp; High Availability (Kubernetes Based Orchestration)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Dane Rosendahl</dc:creator>
  <cp:lastModifiedBy>Ranga Duriseti</cp:lastModifiedBy>
  <cp:revision>100</cp:revision>
  <dcterms:created xsi:type="dcterms:W3CDTF">2019-07-16T14:01:02Z</dcterms:created>
  <dcterms:modified xsi:type="dcterms:W3CDTF">2020-02-25T19:21:06Z</dcterms:modified>
</cp:coreProperties>
</file>